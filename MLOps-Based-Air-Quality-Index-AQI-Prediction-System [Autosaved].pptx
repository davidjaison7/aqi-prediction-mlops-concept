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Kanit Light" panose="020B0604020202020204" charset="-34"/>
      <p:regular r:id="rId11"/>
    </p:embeddedFont>
    <p:embeddedFont>
      <p:font typeface="Martel San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02" autoAdjust="0"/>
  </p:normalViewPr>
  <p:slideViewPr>
    <p:cSldViewPr snapToGrid="0" snapToObjects="1">
      <p:cViewPr varScale="1">
        <p:scale>
          <a:sx n="29" d="100"/>
          <a:sy n="29" d="100"/>
        </p:scale>
        <p:origin x="153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0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785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MLOps-Based Air Quality Index (AQI) Prediction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5557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comprehensive machine learning operations project implementing automated AQI prediction using Random Forest algorithms,with continuous integration and deployment.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027765"/>
            <a:ext cx="226814" cy="22681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93790" y="4354473"/>
            <a:ext cx="3664744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7" name="Text 3"/>
          <p:cNvSpPr/>
          <p:nvPr/>
        </p:nvSpPr>
        <p:spPr>
          <a:xfrm>
            <a:off x="793790" y="45287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David Jaison Raj 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3790" y="5019199"/>
            <a:ext cx="36647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URK22AI1009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4685348" y="4354473"/>
            <a:ext cx="3664863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1" name="Text 6"/>
          <p:cNvSpPr/>
          <p:nvPr/>
        </p:nvSpPr>
        <p:spPr>
          <a:xfrm>
            <a:off x="4685348" y="45287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RAJIV M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4685348" y="49738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URK22AI1009</a:t>
            </a:r>
            <a:endParaRPr lang="en-US" sz="2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807273"/>
            <a:ext cx="226814" cy="22681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93790" y="6133981"/>
            <a:ext cx="7556421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5" name="Text 9"/>
          <p:cNvSpPr/>
          <p:nvPr/>
        </p:nvSpPr>
        <p:spPr>
          <a:xfrm>
            <a:off x="793790" y="63082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93790" y="679870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Python, Flask, Render, GitHub</a:t>
            </a:r>
            <a:endParaRPr lang="en-US" sz="1750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A064E56C-742C-0AF8-9EB0-9AB093409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5348" y="4001393"/>
            <a:ext cx="226814" cy="2268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432673"/>
            <a:ext cx="4770358" cy="49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Understanding 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4917" y="1465124"/>
            <a:ext cx="2360295" cy="294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</a:t>
            </a:r>
            <a:r>
              <a:rPr lang="en-US" sz="2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Challenge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550664" y="2190393"/>
            <a:ext cx="7268170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Urban air pollution has reached critical levels worldwide, demanding sophisticated automated monitoring systems. Traditional manual AQI measurement approaches lack the scalability and real-time insights necessary for effective environmental management and public health protection.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50664" y="3689285"/>
            <a:ext cx="7268170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Modern cities require </a:t>
            </a: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intelligent, automated solutions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that can continuously monitor air quality, provide instant predictions, and adapt to changing environmental conditions through machine learning.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524" y="-1097845"/>
            <a:ext cx="5876925" cy="587692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B57CD28-22D9-3BE2-F019-5E6CB9D29986}"/>
              </a:ext>
            </a:extLst>
          </p:cNvPr>
          <p:cNvGrpSpPr/>
          <p:nvPr/>
        </p:nvGrpSpPr>
        <p:grpSpPr>
          <a:xfrm>
            <a:off x="550664" y="5356890"/>
            <a:ext cx="13835896" cy="2205692"/>
            <a:chOff x="550664" y="7568089"/>
            <a:chExt cx="13529072" cy="1173599"/>
          </a:xfrm>
        </p:grpSpPr>
        <p:sp>
          <p:nvSpPr>
            <p:cNvPr id="7" name="Shape 4"/>
            <p:cNvSpPr/>
            <p:nvPr/>
          </p:nvSpPr>
          <p:spPr>
            <a:xfrm>
              <a:off x="550664" y="7568089"/>
              <a:ext cx="4404836" cy="1173599"/>
            </a:xfrm>
            <a:prstGeom prst="roundRect">
              <a:avLst>
                <a:gd name="adj" fmla="val 5631"/>
              </a:avLst>
            </a:prstGeom>
            <a:solidFill>
              <a:srgbClr val="DFECE9"/>
            </a:solidFill>
            <a:ln w="7620">
              <a:solidFill>
                <a:srgbClr val="C5D2CF"/>
              </a:solidFill>
              <a:prstDash val="solid"/>
            </a:ln>
          </p:spPr>
        </p:sp>
        <p:sp>
          <p:nvSpPr>
            <p:cNvPr id="8" name="Text 5"/>
            <p:cNvSpPr/>
            <p:nvPr/>
          </p:nvSpPr>
          <p:spPr>
            <a:xfrm>
              <a:off x="715566" y="7732990"/>
              <a:ext cx="1966912" cy="2458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5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Primary Objective</a:t>
              </a:r>
              <a:endParaRPr lang="en-US" sz="15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715566" y="8073152"/>
              <a:ext cx="4075033" cy="503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Predict AQI levels from pollutant concentration data with high accuracy</a:t>
              </a:r>
              <a:endParaRPr lang="en-US" sz="12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5112782" y="7568089"/>
              <a:ext cx="4404836" cy="1173599"/>
            </a:xfrm>
            <a:prstGeom prst="roundRect">
              <a:avLst>
                <a:gd name="adj" fmla="val 5631"/>
              </a:avLst>
            </a:prstGeom>
            <a:solidFill>
              <a:srgbClr val="DFECE9"/>
            </a:solidFill>
            <a:ln w="7620">
              <a:solidFill>
                <a:srgbClr val="C5D2CF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5277683" y="7732990"/>
              <a:ext cx="1966912" cy="2458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5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MLOps Integration</a:t>
              </a:r>
              <a:endParaRPr lang="en-US" sz="15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5277683" y="8073152"/>
              <a:ext cx="4075033" cy="503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Automate model retraining, deployment, and updates using CI/CD pipelines</a:t>
              </a:r>
              <a:endParaRPr lang="en-US" sz="12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9674900" y="7568089"/>
              <a:ext cx="4404836" cy="1173599"/>
            </a:xfrm>
            <a:prstGeom prst="roundRect">
              <a:avLst>
                <a:gd name="adj" fmla="val 5631"/>
              </a:avLst>
            </a:prstGeom>
            <a:solidFill>
              <a:srgbClr val="DFECE9"/>
            </a:solidFill>
            <a:ln w="7620">
              <a:solidFill>
                <a:srgbClr val="C5D2CF"/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9839801" y="7732990"/>
              <a:ext cx="1966912" cy="2458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5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Scalability Goal</a:t>
              </a:r>
              <a:endParaRPr lang="en-US" sz="15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9839801" y="8073152"/>
              <a:ext cx="4075033" cy="5036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Enable real-time monitoring across multiple locations with minimal manual intervention</a:t>
              </a:r>
              <a:endParaRPr lang="en-US" sz="12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BC8E3D6-230D-00D5-F2EB-D10036E98B06}"/>
              </a:ext>
            </a:extLst>
          </p:cNvPr>
          <p:cNvSpPr/>
          <p:nvPr/>
        </p:nvSpPr>
        <p:spPr>
          <a:xfrm>
            <a:off x="12837319" y="7693152"/>
            <a:ext cx="1793081" cy="536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387" y="516850"/>
            <a:ext cx="4692848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Description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143387" y="1572578"/>
            <a:ext cx="281570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Attributes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143387" y="2112169"/>
            <a:ext cx="3686056" cy="90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Air_quality.csv dataset contains comprehensive pollutant measurements essential for accurate AQI prediction: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143387" y="3182183"/>
            <a:ext cx="36860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Particulate Matter: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PM2.5 and PM10 concentrations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143387" y="3848576"/>
            <a:ext cx="36860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Gaseous Pollutants: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NO₂, SO₂, CO, and O₃ levels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143387" y="4514969"/>
            <a:ext cx="36860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Target Variable: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Air Quality Index (AQI)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94977" y="1572578"/>
            <a:ext cx="281570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294977" y="2112169"/>
            <a:ext cx="36860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Rigorous preprocessing ensures model reliability: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0294977" y="2881789"/>
            <a:ext cx="36860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Handled missing values through imputation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294977" y="3548182"/>
            <a:ext cx="36860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Normalized pollutant features for consistency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294977" y="4214574"/>
            <a:ext cx="36860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selection based on correlation analysis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0294977" y="4880967"/>
            <a:ext cx="36860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80/20 train-test split for robust validation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143387" y="5852279"/>
            <a:ext cx="2453640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</a:t>
            </a:r>
            <a:endParaRPr lang="en-US" sz="4850" dirty="0"/>
          </a:p>
        </p:txBody>
      </p:sp>
      <p:sp>
        <p:nvSpPr>
          <p:cNvPr id="16" name="Text 13"/>
          <p:cNvSpPr/>
          <p:nvPr/>
        </p:nvSpPr>
        <p:spPr>
          <a:xfrm>
            <a:off x="6196965" y="6706195"/>
            <a:ext cx="2346365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43387" y="7111960"/>
            <a:ext cx="2453640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Pollutant measurements plus AQI target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831580" y="5852279"/>
            <a:ext cx="2453640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80%</a:t>
            </a:r>
            <a:endParaRPr lang="en-US" sz="4850" dirty="0"/>
          </a:p>
        </p:txBody>
      </p:sp>
      <p:sp>
        <p:nvSpPr>
          <p:cNvPr id="19" name="Text 16"/>
          <p:cNvSpPr/>
          <p:nvPr/>
        </p:nvSpPr>
        <p:spPr>
          <a:xfrm>
            <a:off x="8885158" y="6706195"/>
            <a:ext cx="2346365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Training Data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831580" y="7111960"/>
            <a:ext cx="2453640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Used for model learning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1519773" y="5852279"/>
            <a:ext cx="2453640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20%</a:t>
            </a:r>
            <a:endParaRPr lang="en-US" sz="4850" dirty="0"/>
          </a:p>
        </p:txBody>
      </p:sp>
      <p:sp>
        <p:nvSpPr>
          <p:cNvPr id="22" name="Text 19"/>
          <p:cNvSpPr/>
          <p:nvPr/>
        </p:nvSpPr>
        <p:spPr>
          <a:xfrm>
            <a:off x="11573351" y="6706195"/>
            <a:ext cx="2346365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Testing Data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519773" y="7111960"/>
            <a:ext cx="2453640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Reserved for validation</a:t>
            </a:r>
            <a:endParaRPr lang="en-US" sz="14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EE5F82-9A97-EBA2-5D1D-B51CC7B00B0F}"/>
              </a:ext>
            </a:extLst>
          </p:cNvPr>
          <p:cNvSpPr/>
          <p:nvPr/>
        </p:nvSpPr>
        <p:spPr>
          <a:xfrm>
            <a:off x="12837319" y="7693152"/>
            <a:ext cx="1793081" cy="536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8930640" y="2839384"/>
            <a:ext cx="599245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Select relevant features through correlation analysis and </a:t>
            </a:r>
          </a:p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domain expertise</a:t>
            </a:r>
            <a:endParaRPr lang="en-US" sz="1600" dirty="0"/>
          </a:p>
        </p:txBody>
      </p:sp>
      <p:sp>
        <p:nvSpPr>
          <p:cNvPr id="2" name="Text 0"/>
          <p:cNvSpPr/>
          <p:nvPr/>
        </p:nvSpPr>
        <p:spPr>
          <a:xfrm>
            <a:off x="414218" y="172720"/>
            <a:ext cx="5606614" cy="602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Architecture and Implementation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22693" y="1030019"/>
            <a:ext cx="1601743" cy="301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Preprocessing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60" y="1691292"/>
            <a:ext cx="7191343" cy="80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Clean, normalize, and prepare pollutant measurements for </a:t>
            </a:r>
          </a:p>
          <a:p>
            <a:pPr marL="0" indent="0" algn="r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optimal model input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13150" y="2520882"/>
            <a:ext cx="781484" cy="45719"/>
          </a:xfrm>
          <a:prstGeom prst="roundRect">
            <a:avLst>
              <a:gd name="adj" fmla="val 326197"/>
            </a:avLst>
          </a:prstGeom>
          <a:solidFill>
            <a:srgbClr val="C5D2CF"/>
          </a:solidFill>
          <a:ln/>
        </p:spPr>
      </p:sp>
      <p:sp>
        <p:nvSpPr>
          <p:cNvPr id="12" name="Text 10"/>
          <p:cNvSpPr/>
          <p:nvPr/>
        </p:nvSpPr>
        <p:spPr>
          <a:xfrm>
            <a:off x="8930640" y="2416060"/>
            <a:ext cx="1601743" cy="301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69051" y="3656901"/>
            <a:ext cx="1601743" cy="301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70794" y="5480167"/>
            <a:ext cx="6830673" cy="30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Train Random Forest Regressor with </a:t>
            </a:r>
          </a:p>
          <a:p>
            <a:pPr marL="0" indent="0" algn="r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optimized hyperparameters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0339" y="4953739"/>
            <a:ext cx="810301" cy="45719"/>
          </a:xfrm>
          <a:prstGeom prst="roundRect">
            <a:avLst>
              <a:gd name="adj" fmla="val 326197"/>
            </a:avLst>
          </a:prstGeom>
          <a:solidFill>
            <a:srgbClr val="C5D2CF"/>
          </a:solidFill>
          <a:ln/>
        </p:spPr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0082313-6C3A-4C19-6BA9-9FDE8A8C0420}"/>
              </a:ext>
            </a:extLst>
          </p:cNvPr>
          <p:cNvGrpSpPr/>
          <p:nvPr/>
        </p:nvGrpSpPr>
        <p:grpSpPr>
          <a:xfrm>
            <a:off x="6020832" y="846293"/>
            <a:ext cx="2076690" cy="5804926"/>
            <a:chOff x="7373536" y="1160297"/>
            <a:chExt cx="656113" cy="4757588"/>
          </a:xfrm>
        </p:grpSpPr>
        <p:sp>
          <p:nvSpPr>
            <p:cNvPr id="3" name="Shape 1"/>
            <p:cNvSpPr/>
            <p:nvPr/>
          </p:nvSpPr>
          <p:spPr>
            <a:xfrm>
              <a:off x="7877287" y="1160297"/>
              <a:ext cx="16500" cy="4757588"/>
            </a:xfrm>
            <a:prstGeom prst="roundRect">
              <a:avLst>
                <a:gd name="adj" fmla="val 326197"/>
              </a:avLst>
            </a:prstGeom>
            <a:solidFill>
              <a:srgbClr val="C5D2CF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7373536" y="1364637"/>
              <a:ext cx="384387" cy="24815"/>
            </a:xfrm>
            <a:prstGeom prst="roundRect">
              <a:avLst>
                <a:gd name="adj" fmla="val 326197"/>
              </a:avLst>
            </a:prstGeom>
            <a:solidFill>
              <a:srgbClr val="C5D2CF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7741423" y="1160297"/>
              <a:ext cx="288226" cy="433495"/>
            </a:xfrm>
            <a:prstGeom prst="roundRect">
              <a:avLst>
                <a:gd name="adj" fmla="val 18673"/>
              </a:avLst>
            </a:prstGeom>
            <a:solidFill>
              <a:srgbClr val="DFECE9"/>
            </a:solidFill>
            <a:ln w="7620">
              <a:solidFill>
                <a:srgbClr val="C5D2CF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7789440" y="1196454"/>
              <a:ext cx="192193" cy="361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35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1</a:t>
              </a:r>
              <a:endParaRPr lang="en-US" sz="13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741423" y="2316542"/>
              <a:ext cx="288226" cy="433495"/>
            </a:xfrm>
            <a:prstGeom prst="roundRect">
              <a:avLst>
                <a:gd name="adj" fmla="val 18673"/>
              </a:avLst>
            </a:prstGeom>
            <a:solidFill>
              <a:srgbClr val="DFECE9"/>
            </a:solidFill>
            <a:ln w="7620">
              <a:solidFill>
                <a:srgbClr val="C5D2C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7789440" y="2352699"/>
              <a:ext cx="192193" cy="361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35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2</a:t>
              </a:r>
              <a:endParaRPr lang="en-US" sz="13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373536" y="3517571"/>
              <a:ext cx="384387" cy="24815"/>
            </a:xfrm>
            <a:prstGeom prst="roundRect">
              <a:avLst>
                <a:gd name="adj" fmla="val 326197"/>
              </a:avLst>
            </a:prstGeom>
            <a:solidFill>
              <a:srgbClr val="C5D2CF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7741423" y="3313231"/>
              <a:ext cx="288226" cy="433495"/>
            </a:xfrm>
            <a:prstGeom prst="roundRect">
              <a:avLst>
                <a:gd name="adj" fmla="val 18673"/>
              </a:avLst>
            </a:prstGeom>
            <a:solidFill>
              <a:srgbClr val="DFECE9"/>
            </a:solidFill>
            <a:ln w="7620">
              <a:solidFill>
                <a:srgbClr val="C5D2C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7789440" y="3349388"/>
              <a:ext cx="192193" cy="361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35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3</a:t>
              </a:r>
              <a:endParaRPr lang="en-US" sz="13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741423" y="4309922"/>
              <a:ext cx="288226" cy="433495"/>
            </a:xfrm>
            <a:prstGeom prst="roundRect">
              <a:avLst>
                <a:gd name="adj" fmla="val 18673"/>
              </a:avLst>
            </a:prstGeom>
            <a:solidFill>
              <a:srgbClr val="DFECE9"/>
            </a:solidFill>
            <a:ln w="7620">
              <a:solidFill>
                <a:srgbClr val="C5D2C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789440" y="4346078"/>
              <a:ext cx="192193" cy="3611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350"/>
                </a:lnSpc>
                <a:buNone/>
              </a:pPr>
              <a:r>
                <a:rPr lang="en-US" sz="135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2" name="Text 20"/>
          <p:cNvSpPr/>
          <p:nvPr/>
        </p:nvSpPr>
        <p:spPr>
          <a:xfrm>
            <a:off x="9101590" y="4896742"/>
            <a:ext cx="1678182" cy="301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5958" y="4287515"/>
            <a:ext cx="630924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Validate accuracy and assess prediction quality across test dataset</a:t>
            </a:r>
            <a:endParaRPr lang="en-US" sz="16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BDAE9D-8863-F8FF-5DD4-C18ABE9E01BD}"/>
              </a:ext>
            </a:extLst>
          </p:cNvPr>
          <p:cNvSpPr/>
          <p:nvPr/>
        </p:nvSpPr>
        <p:spPr>
          <a:xfrm>
            <a:off x="12837319" y="7693152"/>
            <a:ext cx="1793081" cy="536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107" y="379690"/>
            <a:ext cx="4384358" cy="42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MLOps Workflow and Pipeline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4107" y="1073944"/>
            <a:ext cx="1368218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MLOps pipeline ensures seamless automation from code commit to production deployment, enabling continuous model improvements and reliable service delivery.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07" y="1443038"/>
            <a:ext cx="677347" cy="812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6828" y="1578412"/>
            <a:ext cx="1693426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286828" y="1871186"/>
            <a:ext cx="1286946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Pollutant measurements ingested and validated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07" y="2255877"/>
            <a:ext cx="677347" cy="812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6828" y="2391251"/>
            <a:ext cx="1693426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286828" y="2684026"/>
            <a:ext cx="1286946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retraining with version control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07" y="3068717"/>
            <a:ext cx="677347" cy="8128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6828" y="3204091"/>
            <a:ext cx="1693426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286828" y="3496866"/>
            <a:ext cx="1286946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GitHub Actions trigger deployment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07" y="3881557"/>
            <a:ext cx="677347" cy="8128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6828" y="4016931"/>
            <a:ext cx="1693426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Live Deployment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286828" y="4309705"/>
            <a:ext cx="1286946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Render platform hosts production API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474107" y="6063258"/>
            <a:ext cx="6773347" cy="1027390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24721" y="6227445"/>
            <a:ext cx="1693426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24720" y="6485632"/>
            <a:ext cx="647211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GitHub repository maintains complete code history, enabling rollback capabilities and collaborative development with branch management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7533442" y="6063258"/>
            <a:ext cx="6773466" cy="1027390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629962" y="6227445"/>
            <a:ext cx="1714976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Integration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629962" y="6483469"/>
            <a:ext cx="647223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testing and validation on every commit ensures code quality and prevents regression issues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74105" y="4894481"/>
            <a:ext cx="6773347" cy="1027390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24721" y="5009059"/>
            <a:ext cx="1816775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Deployment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24721" y="5302726"/>
            <a:ext cx="647211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Render platform automatically deploys approved changes, reducing downtime and manual intervention to zero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7533442" y="4913354"/>
            <a:ext cx="6773466" cy="1027390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684055" y="5061068"/>
            <a:ext cx="1693426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Tracking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684055" y="5321220"/>
            <a:ext cx="647223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Version updates logged automatically with accuracy metrics, training timestamps, and performance benchmarks</a:t>
            </a:r>
            <a:endParaRPr lang="en-US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DD502A-F4CE-102A-C7BD-02FFEEF36356}"/>
              </a:ext>
            </a:extLst>
          </p:cNvPr>
          <p:cNvSpPr/>
          <p:nvPr/>
        </p:nvSpPr>
        <p:spPr>
          <a:xfrm>
            <a:off x="12837319" y="7693152"/>
            <a:ext cx="1793081" cy="536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411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Deployment and Validation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96835" y="1134545"/>
            <a:ext cx="6937056" cy="1322548"/>
          </a:xfrm>
          <a:prstGeom prst="roundRect">
            <a:avLst>
              <a:gd name="adj" fmla="val 408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439" y="2687987"/>
            <a:ext cx="6918365" cy="1522930"/>
          </a:xfrm>
          <a:prstGeom prst="roundRect">
            <a:avLst>
              <a:gd name="adj" fmla="val 408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368439" y="4498362"/>
            <a:ext cx="6918364" cy="1686936"/>
          </a:xfrm>
          <a:prstGeom prst="roundRect">
            <a:avLst>
              <a:gd name="adj" fmla="val 408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9AA7122-49B7-8A94-EC56-E5E9AEC9CAA6}"/>
              </a:ext>
            </a:extLst>
          </p:cNvPr>
          <p:cNvGrpSpPr/>
          <p:nvPr/>
        </p:nvGrpSpPr>
        <p:grpSpPr>
          <a:xfrm>
            <a:off x="439341" y="820459"/>
            <a:ext cx="5910858" cy="4654273"/>
            <a:chOff x="439341" y="820459"/>
            <a:chExt cx="5910858" cy="4654273"/>
          </a:xfrm>
        </p:grpSpPr>
        <p:sp>
          <p:nvSpPr>
            <p:cNvPr id="3" name="Text 1"/>
            <p:cNvSpPr/>
            <p:nvPr/>
          </p:nvSpPr>
          <p:spPr>
            <a:xfrm>
              <a:off x="439341" y="820459"/>
              <a:ext cx="1701165" cy="2126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300" dirty="0">
                  <a:solidFill>
                    <a:srgbClr val="272D45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Technical Architecture</a:t>
              </a:r>
              <a:endParaRPr lang="en-US" sz="13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17803" y="1410653"/>
              <a:ext cx="340162" cy="340162"/>
            </a:xfrm>
            <a:prstGeom prst="roundRect">
              <a:avLst>
                <a:gd name="adj" fmla="val 26878621"/>
              </a:avLst>
            </a:prstGeom>
            <a:solidFill>
              <a:srgbClr val="437066"/>
            </a:solidFill>
            <a:ln/>
          </p:spPr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1386" y="1504236"/>
              <a:ext cx="152995" cy="152995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517803" y="1864162"/>
              <a:ext cx="1417558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Backend</a:t>
              </a:r>
              <a:endParaRPr lang="en-US" sz="11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17803" y="2154674"/>
              <a:ext cx="5832396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Flask API handles model inference and request processing</a:t>
              </a:r>
              <a:endParaRPr lang="en-US" sz="8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517803" y="2836246"/>
              <a:ext cx="340162" cy="340162"/>
            </a:xfrm>
            <a:prstGeom prst="roundRect">
              <a:avLst>
                <a:gd name="adj" fmla="val 26878621"/>
              </a:avLst>
            </a:prstGeom>
            <a:solidFill>
              <a:srgbClr val="437066"/>
            </a:solidFill>
            <a:ln/>
          </p:spPr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9362" y="2918817"/>
              <a:ext cx="152995" cy="152995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517803" y="3237409"/>
              <a:ext cx="1417558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Frontend</a:t>
              </a:r>
              <a:endParaRPr lang="en-US" sz="11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517803" y="3526154"/>
              <a:ext cx="5832396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Clean HTML/CSS interface for user interaction</a:t>
              </a:r>
              <a:endParaRPr lang="en-US" sz="850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517803" y="4594622"/>
              <a:ext cx="340162" cy="340162"/>
            </a:xfrm>
            <a:prstGeom prst="roundRect">
              <a:avLst>
                <a:gd name="adj" fmla="val 26878621"/>
              </a:avLst>
            </a:prstGeom>
            <a:solidFill>
              <a:srgbClr val="437066"/>
            </a:solidFill>
            <a:ln/>
          </p:spPr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2339" y="4688205"/>
              <a:ext cx="152995" cy="152995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504040" y="5055607"/>
              <a:ext cx="1417558" cy="177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350"/>
                </a:lnSpc>
                <a:buNone/>
              </a:pPr>
              <a:r>
                <a:rPr lang="en-US" sz="1100" dirty="0">
                  <a:solidFill>
                    <a:srgbClr val="2C3249"/>
                  </a:solidFill>
                  <a:latin typeface="Kanit Light" pitchFamily="34" charset="0"/>
                  <a:ea typeface="Kanit Light" pitchFamily="34" charset="-122"/>
                  <a:cs typeface="Kanit Light" pitchFamily="34" charset="-120"/>
                </a:rPr>
                <a:t>Hosting</a:t>
              </a:r>
              <a:endParaRPr lang="en-US" sz="11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504040" y="5293281"/>
              <a:ext cx="5832396" cy="1814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850" dirty="0">
                  <a:solidFill>
                    <a:srgbClr val="2C3249"/>
                  </a:solidFill>
                  <a:latin typeface="Martel Sans" pitchFamily="34" charset="0"/>
                  <a:ea typeface="Martel Sans" pitchFamily="34" charset="-122"/>
                  <a:cs typeface="Martel Sans" pitchFamily="34" charset="-120"/>
                </a:rPr>
                <a:t>Render platform provides reliable cloud deployment</a:t>
              </a:r>
              <a:endParaRPr lang="en-US" sz="850" dirty="0"/>
            </a:p>
          </p:txBody>
        </p:sp>
      </p:grp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9006" y="177054"/>
            <a:ext cx="7485578" cy="748557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6835" y="8746808"/>
            <a:ext cx="240911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Comprehensive Testing Protocol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96835" y="912947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deployed system underwent rigorous validation to ensure prediction reliability and user experience quality: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396835" y="9438442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39341" y="945963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65334" y="9477375"/>
            <a:ext cx="177176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Prediction Testing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65334" y="9722525"/>
            <a:ext cx="414920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Uploaded diverse pollutant data combinations through the web interface to validate instant AQI calculations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5056227" y="9438442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98732" y="945963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24726" y="947737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Accuracy Verification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24726" y="9722525"/>
            <a:ext cx="4149328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Compared predicted AQI values against actual test dataset results to confirm 86% accuracy benchmark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9715738" y="9438442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758243" y="9459635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0084237" y="947737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Edge Case Validation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0084237" y="9722525"/>
            <a:ext cx="414920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Tested extreme pollutant concentrations and boundary conditions to ensure robust performance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96835" y="10212943"/>
            <a:ext cx="6861691" cy="340162"/>
          </a:xfrm>
          <a:prstGeom prst="roundRect">
            <a:avLst>
              <a:gd name="adj" fmla="val 48011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42611" y="10297954"/>
            <a:ext cx="170021" cy="17002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0183" y="1066645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Good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10183" y="10911602"/>
            <a:ext cx="66349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0-50 AQI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7371874" y="10212943"/>
            <a:ext cx="6861691" cy="340162"/>
          </a:xfrm>
          <a:prstGeom prst="roundRect">
            <a:avLst>
              <a:gd name="adj" fmla="val 48011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17649" y="10297954"/>
            <a:ext cx="170021" cy="170021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485221" y="1066645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Satisfactory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7485221" y="10911602"/>
            <a:ext cx="66349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51-100 AQI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396835" y="11319748"/>
            <a:ext cx="6861691" cy="340162"/>
          </a:xfrm>
          <a:prstGeom prst="roundRect">
            <a:avLst>
              <a:gd name="adj" fmla="val 48011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42611" y="11404759"/>
            <a:ext cx="170021" cy="170021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10183" y="1177325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Moderate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510183" y="12018407"/>
            <a:ext cx="66349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101-200 AQI</a:t>
            </a:r>
            <a:endParaRPr lang="en-US" sz="850" dirty="0"/>
          </a:p>
        </p:txBody>
      </p:sp>
      <p:sp>
        <p:nvSpPr>
          <p:cNvPr id="46" name="Shape 37"/>
          <p:cNvSpPr/>
          <p:nvPr/>
        </p:nvSpPr>
        <p:spPr>
          <a:xfrm>
            <a:off x="7371874" y="11319748"/>
            <a:ext cx="6861691" cy="340162"/>
          </a:xfrm>
          <a:prstGeom prst="roundRect">
            <a:avLst>
              <a:gd name="adj" fmla="val 48011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17649" y="11404759"/>
            <a:ext cx="170021" cy="170021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485221" y="1177325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Poor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7485221" y="12018407"/>
            <a:ext cx="66349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201+ AQI</a:t>
            </a:r>
            <a:endParaRPr lang="en-US" sz="85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45FC45-CF05-39E4-1294-9D3BF777FCB3}"/>
              </a:ext>
            </a:extLst>
          </p:cNvPr>
          <p:cNvSpPr/>
          <p:nvPr/>
        </p:nvSpPr>
        <p:spPr>
          <a:xfrm>
            <a:off x="12837319" y="7693152"/>
            <a:ext cx="1793081" cy="536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684" y="410647"/>
            <a:ext cx="415206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Results and Observations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805940" y="2146816"/>
            <a:ext cx="1837015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86%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367" y="1213366"/>
            <a:ext cx="2240399" cy="22403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91057" y="3640336"/>
            <a:ext cx="1867019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Accuracy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2684" y="3963233"/>
            <a:ext cx="4403884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Prediction reliability across test dataset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96514" y="2146816"/>
            <a:ext cx="1837015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15%</a:t>
            </a:r>
            <a:endParaRPr lang="en-US" sz="2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941" y="1213366"/>
            <a:ext cx="2240399" cy="22403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81631" y="3640336"/>
            <a:ext cx="1867019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Error Rate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113258" y="3963233"/>
            <a:ext cx="4403884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Mean Squared Error maintained below 0.15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0987088" y="2146816"/>
            <a:ext cx="1837015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100%</a:t>
            </a:r>
            <a:endParaRPr lang="en-US" sz="2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5515" y="1213366"/>
            <a:ext cx="2240399" cy="22403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205" y="3640336"/>
            <a:ext cx="1867019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Automation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703832" y="3963233"/>
            <a:ext cx="4403884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Fully automated deployment pipeline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22684" y="4519613"/>
            <a:ext cx="224039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Prediction Quality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522684" y="4948952"/>
            <a:ext cx="6610350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model demonstrates </a:t>
            </a: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stable performance</a:t>
            </a: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across diverse pollutant concentration ranges, from minimal pollution to hazardous levels. Prediction consistency validates the Random Forest approach for real-world environmental monitoring applications.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22684" y="5800606"/>
            <a:ext cx="6610350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Cross-validation testing confirmed robust generalization capabilities with minimal variance between training and testing accuracy.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504986" y="4519613"/>
            <a:ext cx="2240399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MLOps Impact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504986" y="4948952"/>
            <a:ext cx="661035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integrated MLOps pipeline delivered transformative operational benefits: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7504986" y="5322451"/>
            <a:ext cx="661035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Zero-downtime deployments</a:t>
            </a: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through automated CI/CD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504986" y="5613797"/>
            <a:ext cx="661035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Reduced manual intervention by 95%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504986" y="5905143"/>
            <a:ext cx="661035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Instant model updates without service interruption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504986" y="6196489"/>
            <a:ext cx="661035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Comprehensive logging and monitoring capabilities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504986" y="6487835"/>
            <a:ext cx="661035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Scalable architecture supporting multiple instances</a:t>
            </a:r>
            <a:endParaRPr lang="en-US" sz="11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88A6D9-BE0D-1321-3A6D-7F166805B665}"/>
              </a:ext>
            </a:extLst>
          </p:cNvPr>
          <p:cNvSpPr/>
          <p:nvPr/>
        </p:nvSpPr>
        <p:spPr>
          <a:xfrm>
            <a:off x="12837319" y="7693152"/>
            <a:ext cx="1793081" cy="536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0743" y="637342"/>
            <a:ext cx="5376386" cy="40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 and Future Enhancements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5940743" y="1237655"/>
            <a:ext cx="4052768" cy="970717"/>
          </a:xfrm>
          <a:prstGeom prst="roundRect">
            <a:avLst>
              <a:gd name="adj" fmla="val 561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78141" y="1375053"/>
            <a:ext cx="1622703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✓ Project Success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078141" y="1655683"/>
            <a:ext cx="3777972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Successfully developed and deployed a production-grade AQI prediction system with 86% accuracy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123289" y="1237655"/>
            <a:ext cx="4052768" cy="970717"/>
          </a:xfrm>
          <a:prstGeom prst="roundRect">
            <a:avLst>
              <a:gd name="adj" fmla="val 561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60687" y="1375053"/>
            <a:ext cx="1622703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✓ MLOps Excellence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260687" y="1655683"/>
            <a:ext cx="3777972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Achieved full automation, scalability, and reliability through comprehensive CI/CD integration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0743" y="2338149"/>
            <a:ext cx="8235315" cy="763072"/>
          </a:xfrm>
          <a:prstGeom prst="roundRect">
            <a:avLst>
              <a:gd name="adj" fmla="val 714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78141" y="2475548"/>
            <a:ext cx="1622703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✓ Operational Impact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78141" y="2756178"/>
            <a:ext cx="7960519" cy="20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Eliminated manual redeployment and reduced system downtime to near-zero levels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0743" y="3295888"/>
            <a:ext cx="2647950" cy="243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Enhancement Roadmap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70521" y="3928705"/>
            <a:ext cx="129778" cy="584121"/>
          </a:xfrm>
          <a:prstGeom prst="roundRect">
            <a:avLst>
              <a:gd name="adj" fmla="val 4201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0743" y="3843457"/>
            <a:ext cx="389453" cy="389453"/>
          </a:xfrm>
          <a:prstGeom prst="roundRect">
            <a:avLst>
              <a:gd name="adj" fmla="val 11739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8136" y="3940850"/>
            <a:ext cx="194667" cy="19466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59974" y="3863816"/>
            <a:ext cx="1768912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Real-time IoT Integration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59974" y="4144447"/>
            <a:ext cx="7716083" cy="20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Connect live sensor networks for continuous data streaming and instant AQI updates across multiple monitoring stations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65188" y="4837390"/>
            <a:ext cx="129778" cy="584121"/>
          </a:xfrm>
          <a:prstGeom prst="roundRect">
            <a:avLst>
              <a:gd name="adj" fmla="val 4201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35410" y="4752142"/>
            <a:ext cx="389453" cy="389453"/>
          </a:xfrm>
          <a:prstGeom prst="roundRect">
            <a:avLst>
              <a:gd name="adj" fmla="val 11739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2803" y="4849535"/>
            <a:ext cx="194667" cy="19466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54641" y="4772501"/>
            <a:ext cx="1709380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Container Orchestration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654641" y="5053132"/>
            <a:ext cx="7521416" cy="20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 Docker and Kubernetes for containerized deployment, enabling seamless scaling and multi-region availability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59974" y="5746075"/>
            <a:ext cx="129778" cy="760690"/>
          </a:xfrm>
          <a:prstGeom prst="roundRect">
            <a:avLst>
              <a:gd name="adj" fmla="val 4201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330196" y="5660827"/>
            <a:ext cx="389453" cy="389453"/>
          </a:xfrm>
          <a:prstGeom prst="roundRect">
            <a:avLst>
              <a:gd name="adj" fmla="val 11739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27589" y="5758220"/>
            <a:ext cx="194667" cy="19466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49428" y="5681186"/>
            <a:ext cx="1622703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Experiment Tracking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849428" y="5961817"/>
            <a:ext cx="7326630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 MLflow for comprehensive experiment management, parameter tuning, and model versioning with performance comparisons</a:t>
            </a:r>
            <a:endParaRPr lang="en-US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1C23D8-9DC9-662C-398F-4E480569941C}"/>
              </a:ext>
            </a:extLst>
          </p:cNvPr>
          <p:cNvSpPr/>
          <p:nvPr/>
        </p:nvSpPr>
        <p:spPr>
          <a:xfrm>
            <a:off x="12837319" y="7693152"/>
            <a:ext cx="1793081" cy="536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777</Words>
  <Application>Microsoft Office PowerPoint</Application>
  <PresentationFormat>Custom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Kanit Light</vt:lpstr>
      <vt:lpstr>Martel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jason</dc:creator>
  <cp:lastModifiedBy>David jason</cp:lastModifiedBy>
  <cp:revision>2</cp:revision>
  <dcterms:created xsi:type="dcterms:W3CDTF">2025-10-30T04:41:19Z</dcterms:created>
  <dcterms:modified xsi:type="dcterms:W3CDTF">2025-11-03T07:23:11Z</dcterms:modified>
</cp:coreProperties>
</file>